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1675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Poppins"/>
      <p:regular r:id="rId19"/>
      <p:bold r:id="rId20"/>
      <p:italic r:id="rId21"/>
      <p:boldItalic r:id="rId22"/>
    </p:embeddedFont>
    <p:embeddedFont>
      <p:font typeface="Source Code Pr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SourceCodePro-bold.fntdata"/><Relationship Id="rId23" Type="http://schemas.openxmlformats.org/officeDocument/2006/relationships/font" Target="fonts/SourceCodePr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urceCodePro-boldItalic.fntdata"/><Relationship Id="rId25" Type="http://schemas.openxmlformats.org/officeDocument/2006/relationships/font" Target="fonts/SourceCodePr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Poppins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e5a45f992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e5a45f99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jpg"/><Relationship Id="rId4" Type="http://schemas.openxmlformats.org/officeDocument/2006/relationships/image" Target="../media/image37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9.png"/><Relationship Id="rId11" Type="http://schemas.openxmlformats.org/officeDocument/2006/relationships/image" Target="../media/image3.png"/><Relationship Id="rId10" Type="http://schemas.openxmlformats.org/officeDocument/2006/relationships/image" Target="../media/image19.png"/><Relationship Id="rId9" Type="http://schemas.openxmlformats.org/officeDocument/2006/relationships/image" Target="../media/image32.png"/><Relationship Id="rId5" Type="http://schemas.openxmlformats.org/officeDocument/2006/relationships/image" Target="../media/image2.png"/><Relationship Id="rId6" Type="http://schemas.openxmlformats.org/officeDocument/2006/relationships/image" Target="../media/image17.png"/><Relationship Id="rId7" Type="http://schemas.openxmlformats.org/officeDocument/2006/relationships/image" Target="../media/image38.png"/><Relationship Id="rId8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46.png"/><Relationship Id="rId13" Type="http://schemas.openxmlformats.org/officeDocument/2006/relationships/image" Target="../media/image31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Relationship Id="rId9" Type="http://schemas.openxmlformats.org/officeDocument/2006/relationships/image" Target="../media/image40.png"/><Relationship Id="rId5" Type="http://schemas.openxmlformats.org/officeDocument/2006/relationships/image" Target="../media/image36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1.png"/><Relationship Id="rId4" Type="http://schemas.openxmlformats.org/officeDocument/2006/relationships/image" Target="../media/image45.png"/><Relationship Id="rId9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1.png"/><Relationship Id="rId7" Type="http://schemas.openxmlformats.org/officeDocument/2006/relationships/image" Target="../media/image43.png"/><Relationship Id="rId8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A1A1A"/>
            </a:gs>
            <a:gs pos="100000">
              <a:srgbClr val="2D1F1F"/>
            </a:gs>
          </a:gsLst>
          <a:lin ang="81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84" name="Google Shape;84;p13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A1A">
                  <a:alpha val="92156"/>
                </a:srgbClr>
              </a:gs>
              <a:gs pos="100000">
                <a:srgbClr val="2D1F1F">
                  <a:alpha val="87843"/>
                </a:srgbClr>
              </a:gs>
            </a:gsLst>
            <a:lin ang="81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4895727" y="1323974"/>
            <a:ext cx="761980" cy="381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E40046"/>
              </a:gs>
            </a:gsLst>
            <a:lin ang="108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104" y="1113513"/>
            <a:ext cx="571485" cy="45902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6533986" y="1323974"/>
            <a:ext cx="761980" cy="381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E40046"/>
              </a:gs>
            </a:gsLst>
            <a:lin ang="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762180" y="1933574"/>
            <a:ext cx="6667333" cy="1523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358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27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Airtel RAG Customer</a:t>
            </a:r>
            <a:br>
              <a:rPr b="0" i="0" lang="en-US" sz="11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827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Support Chatbot 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5486262" y="3686175"/>
            <a:ext cx="1219169" cy="38100"/>
          </a:xfrm>
          <a:prstGeom prst="rect">
            <a:avLst/>
          </a:prstGeom>
          <a:solidFill>
            <a:srgbClr val="E4004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762180" y="4029075"/>
            <a:ext cx="6667333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338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4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 Retrieval-Augmented Generation for</a:t>
            </a:r>
            <a:br>
              <a:rPr b="0" i="0" lang="en-US" sz="11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54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Telecom Customer Service 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2762180" y="5248275"/>
            <a:ext cx="2466913" cy="552450"/>
          </a:xfrm>
          <a:prstGeom prst="roundRect">
            <a:avLst>
              <a:gd fmla="val 27586" name="adj"/>
            </a:avLst>
          </a:prstGeom>
          <a:solidFill>
            <a:srgbClr val="E40046">
              <a:alpha val="10196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00299" y="5435917"/>
            <a:ext cx="228594" cy="17716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3343191" y="5391150"/>
            <a:ext cx="164778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LLM + SLM Hybrid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5533886" y="5248275"/>
            <a:ext cx="1638259" cy="552450"/>
          </a:xfrm>
          <a:prstGeom prst="roundRect">
            <a:avLst>
              <a:gd fmla="val 27586" name="adj"/>
            </a:avLst>
          </a:prstGeom>
          <a:solidFill>
            <a:srgbClr val="E40046">
              <a:alpha val="10196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6" name="Google Shape;9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72005" y="5435917"/>
            <a:ext cx="228594" cy="17716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6114897" y="5391150"/>
            <a:ext cx="819129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Groq LPU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7476938" y="5248275"/>
            <a:ext cx="1952576" cy="552450"/>
          </a:xfrm>
          <a:prstGeom prst="roundRect">
            <a:avLst>
              <a:gd fmla="val 27586" name="adj"/>
            </a:avLst>
          </a:prstGeom>
          <a:solidFill>
            <a:srgbClr val="E40046">
              <a:alpha val="10196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9" name="Google Shape;9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057" y="5421630"/>
            <a:ext cx="228594" cy="20573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8057948" y="5391150"/>
            <a:ext cx="1133446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Brand Voice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0" y="6248400"/>
            <a:ext cx="121916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Built by Kaustubh Nair | AI Training Program — Week 3, Day 5 Assignment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A1A1A"/>
            </a:gs>
            <a:gs pos="100000">
              <a:srgbClr val="2D1F1F"/>
            </a:gs>
          </a:gsLst>
          <a:lin ang="8100000" scaled="0"/>
        </a:gra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/>
        </p:nvSpPr>
        <p:spPr>
          <a:xfrm>
            <a:off x="609584" y="114300"/>
            <a:ext cx="3305092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609584" y="2028825"/>
            <a:ext cx="533386" cy="533399"/>
          </a:xfrm>
          <a:prstGeom prst="roundRect">
            <a:avLst>
              <a:gd fmla="val 28571" name="adj"/>
            </a:avLst>
          </a:prstGeom>
          <a:solidFill>
            <a:srgbClr val="E40046">
              <a:alpha val="14901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406" y="2184723"/>
            <a:ext cx="285742" cy="22160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295367" y="2028825"/>
            <a:ext cx="4571885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Use Case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295367" y="2371725"/>
            <a:ext cx="45718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6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5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Customer Support Assistant for Airtel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609584" y="3047999"/>
            <a:ext cx="533386" cy="533399"/>
          </a:xfrm>
          <a:prstGeom prst="roundRect">
            <a:avLst>
              <a:gd fmla="val 28571" name="adj"/>
            </a:avLst>
          </a:prstGeom>
          <a:solidFill>
            <a:srgbClr val="E40046">
              <a:alpha val="14901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2" name="Google Shape;1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406" y="3203898"/>
            <a:ext cx="285742" cy="22160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1295367" y="3047999"/>
            <a:ext cx="4571885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Company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295367" y="3390899"/>
            <a:ext cx="45718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6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5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Bharti Airtel Limited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295367" y="3800475"/>
            <a:ext cx="4571885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India's Leading Telecom Company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609584" y="4371975"/>
            <a:ext cx="533386" cy="533399"/>
          </a:xfrm>
          <a:prstGeom prst="roundRect">
            <a:avLst>
              <a:gd fmla="val 28571" name="adj"/>
            </a:avLst>
          </a:prstGeom>
          <a:solidFill>
            <a:srgbClr val="E40046">
              <a:alpha val="14901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7" name="Google Shape;11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406" y="4532247"/>
            <a:ext cx="285742" cy="21285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1295367" y="4371975"/>
            <a:ext cx="4571885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Goal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295367" y="4714875"/>
            <a:ext cx="4571885" cy="933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3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Build a RAG-based chatbot that answers customer queries about Airtel's </a:t>
            </a:r>
            <a:r>
              <a:rPr b="1" i="0" lang="en-US" sz="1196" u="none" cap="none" strike="noStrike">
                <a:solidFill>
                  <a:srgbClr val="E40046"/>
                </a:solidFill>
                <a:latin typeface="Roboto"/>
                <a:ea typeface="Roboto"/>
                <a:cs typeface="Roboto"/>
                <a:sym typeface="Roboto"/>
              </a:rPr>
              <a:t>plans, policies, billing, and services</a:t>
            </a:r>
            <a:r>
              <a:rPr b="0" i="0" lang="en-US" sz="119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 using only verified company documentation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6476838" y="5715000"/>
            <a:ext cx="4952876" cy="438149"/>
          </a:xfrm>
          <a:prstGeom prst="roundRect">
            <a:avLst>
              <a:gd fmla="val 34782" name="adj"/>
            </a:avLst>
          </a:prstGeom>
          <a:solidFill>
            <a:srgbClr val="1A1A1A">
              <a:alpha val="90196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6638759" y="5848350"/>
            <a:ext cx="4629034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Streamlit-based Chat Interface</a:t>
            </a:r>
            <a:endParaRPr/>
          </a:p>
        </p:txBody>
      </p:sp>
      <p:pic>
        <p:nvPicPr>
          <p:cNvPr id="122" name="Google Shape;12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59425" y="1723238"/>
            <a:ext cx="5027502" cy="370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A1A1A"/>
            </a:gs>
            <a:gs pos="100000">
              <a:srgbClr val="2D1F1F"/>
            </a:gs>
          </a:gsLst>
          <a:lin ang="8100000" scaled="0"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/>
          <p:nvPr/>
        </p:nvSpPr>
        <p:spPr>
          <a:xfrm>
            <a:off x="609584" y="114300"/>
            <a:ext cx="40384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52956" y="1190625"/>
            <a:ext cx="5829154" cy="857250"/>
          </a:xfrm>
          <a:prstGeom prst="roundRect">
            <a:avLst>
              <a:gd fmla="val 26666" name="adj"/>
            </a:avLst>
          </a:prstGeom>
          <a:solidFill>
            <a:srgbClr val="E40046">
              <a:alpha val="7843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991075" y="1390650"/>
            <a:ext cx="457188" cy="457200"/>
          </a:xfrm>
          <a:prstGeom prst="roundRect">
            <a:avLst>
              <a:gd fmla="val 33333" name="adj"/>
            </a:avLst>
          </a:prstGeom>
          <a:solidFill>
            <a:srgbClr val="E4004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5372" y="1536382"/>
            <a:ext cx="228594" cy="16573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6600659" y="1352549"/>
            <a:ext cx="4267093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STREAMLIT UI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600659" y="1657350"/>
            <a:ext cx="42670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Mock Login → Chat Interface → Chunk View → Eval Dashboard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5752956" y="2276474"/>
            <a:ext cx="5829154" cy="857250"/>
          </a:xfrm>
          <a:prstGeom prst="roundRect">
            <a:avLst>
              <a:gd fmla="val 26666" name="adj"/>
            </a:avLst>
          </a:prstGeom>
          <a:solidFill>
            <a:srgbClr val="E40046">
              <a:alpha val="7843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5991075" y="2476499"/>
            <a:ext cx="457188" cy="457200"/>
          </a:xfrm>
          <a:prstGeom prst="roundRect">
            <a:avLst>
              <a:gd fmla="val 33333" name="adj"/>
            </a:avLst>
          </a:prstGeom>
          <a:solidFill>
            <a:srgbClr val="E4004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5372" y="2622232"/>
            <a:ext cx="228594" cy="16573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6600659" y="2438400"/>
            <a:ext cx="3343191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RAG ENGINE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600659" y="2743200"/>
            <a:ext cx="334319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PDF Loader → Chunker → Embedder → FAISS DB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5752956" y="3362324"/>
            <a:ext cx="5829154" cy="857250"/>
          </a:xfrm>
          <a:prstGeom prst="roundRect">
            <a:avLst>
              <a:gd fmla="val 26666" name="adj"/>
            </a:avLst>
          </a:prstGeom>
          <a:solidFill>
            <a:srgbClr val="E40046">
              <a:alpha val="7843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5991075" y="3562349"/>
            <a:ext cx="457188" cy="457200"/>
          </a:xfrm>
          <a:prstGeom prst="roundRect">
            <a:avLst>
              <a:gd fmla="val 33333" name="adj"/>
            </a:avLst>
          </a:prstGeom>
          <a:solidFill>
            <a:srgbClr val="E4004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0" name="Google Shape;14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5372" y="3702367"/>
            <a:ext cx="228594" cy="17716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6600659" y="3524250"/>
            <a:ext cx="3552736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LLM ENGINE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600659" y="3829050"/>
            <a:ext cx="35527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Groq LLaMA 3.3 → Brand Persona → CoT Reasoning</a:t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5752956" y="4448175"/>
            <a:ext cx="5829154" cy="857250"/>
          </a:xfrm>
          <a:prstGeom prst="roundRect">
            <a:avLst>
              <a:gd fmla="val 26666" name="adj"/>
            </a:avLst>
          </a:prstGeom>
          <a:solidFill>
            <a:srgbClr val="E40046">
              <a:alpha val="7843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5991075" y="4648200"/>
            <a:ext cx="457188" cy="457200"/>
          </a:xfrm>
          <a:prstGeom prst="roundRect">
            <a:avLst>
              <a:gd fmla="val 33333" name="adj"/>
            </a:avLst>
          </a:prstGeom>
          <a:solidFill>
            <a:srgbClr val="E4004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5" name="Google Shape;14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5372" y="4768215"/>
            <a:ext cx="228594" cy="21717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6600659" y="4610099"/>
            <a:ext cx="2619309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EMBEDDINGS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600659" y="4914900"/>
            <a:ext cx="26193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sentence-transformers (MiniLM-L6-v2)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5752956" y="5686425"/>
            <a:ext cx="5829154" cy="800100"/>
          </a:xfrm>
          <a:prstGeom prst="roundRect">
            <a:avLst>
              <a:gd fmla="val 28571" name="adj"/>
            </a:avLst>
          </a:prstGeom>
          <a:solidFill>
            <a:srgbClr val="E40046">
              <a:alpha val="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 rot="-5400000">
            <a:off x="5418946" y="6020435"/>
            <a:ext cx="800100" cy="13208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4004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6019649" y="5838824"/>
            <a:ext cx="5333866" cy="495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7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6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Response Generation:</a:t>
            </a:r>
            <a:r>
              <a:rPr b="0" i="0" lang="en-US" sz="956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 Combines retrieved context with brand voice and CoT reasoning</a:t>
            </a:r>
            <a:endParaRPr/>
          </a:p>
        </p:txBody>
      </p:sp>
      <p:pic>
        <p:nvPicPr>
          <p:cNvPr id="151" name="Google Shape;15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8150" y="1189575"/>
            <a:ext cx="5229524" cy="493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A1A1A"/>
            </a:gs>
            <a:gs pos="100000">
              <a:srgbClr val="2D1F1F"/>
            </a:gs>
          </a:gsLst>
          <a:lin ang="8100000" scaled="0"/>
        </a:gra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/>
        </p:nvSpPr>
        <p:spPr>
          <a:xfrm>
            <a:off x="609584" y="114300"/>
            <a:ext cx="34955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Technology Stack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609584" y="1190625"/>
            <a:ext cx="5371965" cy="1447800"/>
          </a:xfrm>
          <a:prstGeom prst="roundRect">
            <a:avLst>
              <a:gd fmla="val 15789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847703" y="1390650"/>
            <a:ext cx="533386" cy="533399"/>
          </a:xfrm>
          <a:prstGeom prst="roundRect">
            <a:avLst>
              <a:gd fmla="val 28571" name="adj"/>
            </a:avLst>
          </a:prstGeom>
          <a:solidFill>
            <a:srgbClr val="E4004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9" name="Google Shape;1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25" y="1546548"/>
            <a:ext cx="285742" cy="22160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1533486" y="1390650"/>
            <a:ext cx="420994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LLM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1533486" y="1695449"/>
            <a:ext cx="42099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6" u="none" cap="none" strike="noStrike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Groq (LLaMA 3.3 70B Versatile)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1533486" y="2000250"/>
            <a:ext cx="4209944" cy="219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08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Ultra-fast inference via Groq's LPU, excellent instruction-following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6210144" y="1190625"/>
            <a:ext cx="5371965" cy="1447800"/>
          </a:xfrm>
          <a:prstGeom prst="roundRect">
            <a:avLst>
              <a:gd fmla="val 15789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6448263" y="1390650"/>
            <a:ext cx="533386" cy="533399"/>
          </a:xfrm>
          <a:prstGeom prst="roundRect">
            <a:avLst>
              <a:gd fmla="val 28571" name="adj"/>
            </a:avLst>
          </a:prstGeom>
          <a:solidFill>
            <a:srgbClr val="E4004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5" name="Google Shape;16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2085" y="1625485"/>
            <a:ext cx="285742" cy="6372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/>
        </p:nvSpPr>
        <p:spPr>
          <a:xfrm>
            <a:off x="7134046" y="1390650"/>
            <a:ext cx="420994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Embeddings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7134046" y="1695449"/>
            <a:ext cx="42099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6" u="none" cap="none" strike="noStrike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all-MiniLM-L6-v2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7134046" y="2000250"/>
            <a:ext cx="4209944" cy="4381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08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Lightweight (80MB), fast, 384-dim. Ideal for semantic search without GPU</a:t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609584" y="2857500"/>
            <a:ext cx="5371965" cy="1228725"/>
          </a:xfrm>
          <a:prstGeom prst="roundRect">
            <a:avLst>
              <a:gd fmla="val 18604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847703" y="3067050"/>
            <a:ext cx="533386" cy="533399"/>
          </a:xfrm>
          <a:prstGeom prst="roundRect">
            <a:avLst>
              <a:gd fmla="val 28571" name="adj"/>
            </a:avLst>
          </a:prstGeom>
          <a:solidFill>
            <a:srgbClr val="E4004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1" name="Google Shape;17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25" y="3231696"/>
            <a:ext cx="285742" cy="20410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 txBox="1"/>
          <p:nvPr/>
        </p:nvSpPr>
        <p:spPr>
          <a:xfrm>
            <a:off x="1533486" y="3067050"/>
            <a:ext cx="420994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Vector DB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1533486" y="3371850"/>
            <a:ext cx="42099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6" u="none" cap="none" strike="noStrike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FAISS (Facebook AI)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1533486" y="3676649"/>
            <a:ext cx="4209944" cy="219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08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Fast similarity search, no server needed, persistent storage</a:t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6210144" y="2857500"/>
            <a:ext cx="5371965" cy="1228725"/>
          </a:xfrm>
          <a:prstGeom prst="roundRect">
            <a:avLst>
              <a:gd fmla="val 18604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6448263" y="3067050"/>
            <a:ext cx="533386" cy="533399"/>
          </a:xfrm>
          <a:prstGeom prst="roundRect">
            <a:avLst>
              <a:gd fmla="val 28571" name="adj"/>
            </a:avLst>
          </a:prstGeom>
          <a:solidFill>
            <a:srgbClr val="E4004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7" name="Google Shape;17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2085" y="3211285"/>
            <a:ext cx="285742" cy="244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/>
        </p:nvSpPr>
        <p:spPr>
          <a:xfrm>
            <a:off x="7134046" y="3067050"/>
            <a:ext cx="420994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Chunking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7134046" y="3371850"/>
            <a:ext cx="42099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6" u="none" cap="none" strike="noStrike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LangChain RecursiveCharacterTextSplitter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7134046" y="3676649"/>
            <a:ext cx="4209944" cy="219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08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500-char chunks with 100-char overlap for optimal retrieval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609584" y="4314825"/>
            <a:ext cx="5371965" cy="1228725"/>
          </a:xfrm>
          <a:prstGeom prst="roundRect">
            <a:avLst>
              <a:gd fmla="val 18604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847703" y="4514850"/>
            <a:ext cx="533386" cy="533399"/>
          </a:xfrm>
          <a:prstGeom prst="roundRect">
            <a:avLst>
              <a:gd fmla="val 28571" name="adj"/>
            </a:avLst>
          </a:prstGeom>
          <a:solidFill>
            <a:srgbClr val="E4004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3" name="Google Shape;18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25" y="4679496"/>
            <a:ext cx="285742" cy="20410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6"/>
          <p:cNvSpPr txBox="1"/>
          <p:nvPr/>
        </p:nvSpPr>
        <p:spPr>
          <a:xfrm>
            <a:off x="1533486" y="4514850"/>
            <a:ext cx="420994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UI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1533486" y="4819650"/>
            <a:ext cx="42099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6" u="none" cap="none" strike="noStrike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Streamlit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1533486" y="5124449"/>
            <a:ext cx="4209944" cy="219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08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Rapid prototyping, built-in chat components</a:t>
            </a:r>
            <a:endParaRPr/>
          </a:p>
        </p:txBody>
      </p:sp>
      <p:sp>
        <p:nvSpPr>
          <p:cNvPr id="187" name="Google Shape;187;p16"/>
          <p:cNvSpPr/>
          <p:nvPr/>
        </p:nvSpPr>
        <p:spPr>
          <a:xfrm>
            <a:off x="6210144" y="4314825"/>
            <a:ext cx="5371965" cy="1228725"/>
          </a:xfrm>
          <a:prstGeom prst="roundRect">
            <a:avLst>
              <a:gd fmla="val 18604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6448263" y="4514850"/>
            <a:ext cx="533386" cy="533399"/>
          </a:xfrm>
          <a:prstGeom prst="roundRect">
            <a:avLst>
              <a:gd fmla="val 28571" name="adj"/>
            </a:avLst>
          </a:prstGeom>
          <a:solidFill>
            <a:srgbClr val="E4004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9" name="Google Shape;18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72085" y="4653254"/>
            <a:ext cx="285742" cy="25659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6"/>
          <p:cNvSpPr txBox="1"/>
          <p:nvPr/>
        </p:nvSpPr>
        <p:spPr>
          <a:xfrm>
            <a:off x="7134046" y="4514850"/>
            <a:ext cx="420994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Authentication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7134046" y="4819650"/>
            <a:ext cx="42099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6" u="none" cap="none" strike="noStrike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Custom Mock Login (SHA-256)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7134046" y="5124449"/>
            <a:ext cx="4209944" cy="219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08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Simple security gate as required</a:t>
            </a:r>
            <a:endParaRPr/>
          </a:p>
        </p:txBody>
      </p:sp>
      <p:sp>
        <p:nvSpPr>
          <p:cNvPr id="193" name="Google Shape;193;p16"/>
          <p:cNvSpPr/>
          <p:nvPr/>
        </p:nvSpPr>
        <p:spPr>
          <a:xfrm>
            <a:off x="609584" y="5772150"/>
            <a:ext cx="10972525" cy="609600"/>
          </a:xfrm>
          <a:prstGeom prst="roundRect">
            <a:avLst>
              <a:gd fmla="val 37500" name="adj"/>
            </a:avLst>
          </a:prstGeom>
          <a:solidFill>
            <a:srgbClr val="E40046">
              <a:alpha val="7843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 rot="-5400000">
            <a:off x="370824" y="6010910"/>
            <a:ext cx="609600" cy="13208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4004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5" name="Google Shape;19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476" y="5979795"/>
            <a:ext cx="228594" cy="19430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6"/>
          <p:cNvSpPr txBox="1"/>
          <p:nvPr/>
        </p:nvSpPr>
        <p:spPr>
          <a:xfrm>
            <a:off x="1295367" y="5962650"/>
            <a:ext cx="44861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Hybrid approach: Cloud LLM for quality + Local SLM for efficiency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01" name="Google Shape;2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788" y="0"/>
            <a:ext cx="12287250" cy="6858000"/>
          </a:xfrm>
          <a:prstGeom prst="rect">
            <a:avLst/>
          </a:prstGeom>
          <a:solidFill>
            <a:srgbClr val="E40046">
              <a:alpha val="7840"/>
            </a:srgbClr>
          </a:solidFill>
          <a:ln cap="flat" cmpd="sng" w="16500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A1A1A"/>
            </a:gs>
            <a:gs pos="100000">
              <a:srgbClr val="2D1F1F"/>
            </a:gs>
          </a:gsLst>
          <a:lin ang="8100000" scaled="0"/>
        </a:gra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/>
          <p:nvPr/>
        </p:nvSpPr>
        <p:spPr>
          <a:xfrm>
            <a:off x="609584" y="114300"/>
            <a:ext cx="2543111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Features</a:t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609584" y="1114425"/>
            <a:ext cx="2600259" cy="2190749"/>
          </a:xfrm>
          <a:prstGeom prst="roundRect">
            <a:avLst>
              <a:gd fmla="val 10434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809604" y="1314450"/>
            <a:ext cx="457188" cy="457200"/>
          </a:xfrm>
          <a:prstGeom prst="roundRect">
            <a:avLst>
              <a:gd fmla="val 33333" name="adj"/>
            </a:avLst>
          </a:prstGeom>
          <a:solidFill>
            <a:srgbClr val="E4004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9" name="Google Shape;2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01" y="1454467"/>
            <a:ext cx="228594" cy="17716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8"/>
          <p:cNvSpPr txBox="1"/>
          <p:nvPr/>
        </p:nvSpPr>
        <p:spPr>
          <a:xfrm>
            <a:off x="1381090" y="1438274"/>
            <a:ext cx="1238219" cy="219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32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RAG Pipeline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809604" y="1885950"/>
            <a:ext cx="2200219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7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PDF loading → Chunking → Embedding → FAISS → Retrieval → Generation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3400339" y="1114425"/>
            <a:ext cx="2600259" cy="2190749"/>
          </a:xfrm>
          <a:prstGeom prst="roundRect">
            <a:avLst>
              <a:gd fmla="val 10434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3600359" y="1314450"/>
            <a:ext cx="457188" cy="457200"/>
          </a:xfrm>
          <a:prstGeom prst="roundRect">
            <a:avLst>
              <a:gd fmla="val 33333" name="adj"/>
            </a:avLst>
          </a:prstGeom>
          <a:solidFill>
            <a:srgbClr val="E4004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4" name="Google Shape;21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4657" y="1450181"/>
            <a:ext cx="228594" cy="185737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/>
          <p:nvPr/>
        </p:nvSpPr>
        <p:spPr>
          <a:xfrm>
            <a:off x="4171845" y="1438274"/>
            <a:ext cx="1133446" cy="219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32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Brand Voice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3600359" y="1885950"/>
            <a:ext cx="2200219" cy="495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7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Strict "Airtel Assist" persona using only provided context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6191095" y="1114425"/>
            <a:ext cx="2600259" cy="2190749"/>
          </a:xfrm>
          <a:prstGeom prst="roundRect">
            <a:avLst>
              <a:gd fmla="val 10434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6391115" y="1314450"/>
            <a:ext cx="457188" cy="457200"/>
          </a:xfrm>
          <a:prstGeom prst="roundRect">
            <a:avLst>
              <a:gd fmla="val 33333" name="adj"/>
            </a:avLst>
          </a:prstGeom>
          <a:solidFill>
            <a:srgbClr val="E4004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9" name="Google Shape;21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5412" y="1454467"/>
            <a:ext cx="228594" cy="17716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8"/>
          <p:cNvSpPr txBox="1"/>
          <p:nvPr/>
        </p:nvSpPr>
        <p:spPr>
          <a:xfrm>
            <a:off x="6962600" y="1333500"/>
            <a:ext cx="1628734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32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Chain-of-Thought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6391115" y="1885950"/>
            <a:ext cx="2200219" cy="495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7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Model explains retrieval logic before answering</a:t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8981850" y="1114425"/>
            <a:ext cx="2600259" cy="2190749"/>
          </a:xfrm>
          <a:prstGeom prst="roundRect">
            <a:avLst>
              <a:gd fmla="val 10434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9181870" y="1314450"/>
            <a:ext cx="457188" cy="457200"/>
          </a:xfrm>
          <a:prstGeom prst="roundRect">
            <a:avLst>
              <a:gd fmla="val 33333" name="adj"/>
            </a:avLst>
          </a:prstGeom>
          <a:solidFill>
            <a:srgbClr val="E4004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4" name="Google Shape;22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6167" y="1454467"/>
            <a:ext cx="228594" cy="17716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8"/>
          <p:cNvSpPr txBox="1"/>
          <p:nvPr/>
        </p:nvSpPr>
        <p:spPr>
          <a:xfrm>
            <a:off x="9753356" y="1333500"/>
            <a:ext cx="1628734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32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Parameter Controls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9181870" y="1885950"/>
            <a:ext cx="2200219" cy="495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7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Live sliders for Temperature and Top-P generation parameters</a:t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>
            <a:off x="609584" y="3495675"/>
            <a:ext cx="2600259" cy="2190749"/>
          </a:xfrm>
          <a:prstGeom prst="roundRect">
            <a:avLst>
              <a:gd fmla="val 10434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809604" y="3695699"/>
            <a:ext cx="457188" cy="457200"/>
          </a:xfrm>
          <a:prstGeom prst="roundRect">
            <a:avLst>
              <a:gd fmla="val 33333" name="adj"/>
            </a:avLst>
          </a:prstGeom>
          <a:solidFill>
            <a:srgbClr val="E4004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9" name="Google Shape;22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01" y="3852862"/>
            <a:ext cx="22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8"/>
          <p:cNvSpPr txBox="1"/>
          <p:nvPr/>
        </p:nvSpPr>
        <p:spPr>
          <a:xfrm>
            <a:off x="1381090" y="3819524"/>
            <a:ext cx="1438239" cy="219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32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Chunks Display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809604" y="4267199"/>
            <a:ext cx="2200219" cy="495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7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Dedicated tab showing source chunks with relevance scores</a:t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3400339" y="3495675"/>
            <a:ext cx="2600259" cy="2190749"/>
          </a:xfrm>
          <a:prstGeom prst="roundRect">
            <a:avLst>
              <a:gd fmla="val 10434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3600359" y="3695699"/>
            <a:ext cx="457188" cy="457200"/>
          </a:xfrm>
          <a:prstGeom prst="roundRect">
            <a:avLst>
              <a:gd fmla="val 33333" name="adj"/>
            </a:avLst>
          </a:prstGeom>
          <a:solidFill>
            <a:srgbClr val="E4004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4" name="Google Shape;23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14657" y="3821429"/>
            <a:ext cx="228594" cy="20573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8"/>
          <p:cNvSpPr txBox="1"/>
          <p:nvPr/>
        </p:nvSpPr>
        <p:spPr>
          <a:xfrm>
            <a:off x="4171845" y="3819524"/>
            <a:ext cx="1028674" cy="219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32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Mock Login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3600359" y="4267199"/>
            <a:ext cx="2200219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7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Username/password authentication gate with SHA-256 hashing</a:t>
            </a:r>
            <a:endParaRPr/>
          </a:p>
        </p:txBody>
      </p:sp>
      <p:sp>
        <p:nvSpPr>
          <p:cNvPr id="237" name="Google Shape;237;p18"/>
          <p:cNvSpPr/>
          <p:nvPr/>
        </p:nvSpPr>
        <p:spPr>
          <a:xfrm>
            <a:off x="6191095" y="3495675"/>
            <a:ext cx="2600259" cy="2190749"/>
          </a:xfrm>
          <a:prstGeom prst="roundRect">
            <a:avLst>
              <a:gd fmla="val 10434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6391115" y="3695699"/>
            <a:ext cx="457188" cy="457200"/>
          </a:xfrm>
          <a:prstGeom prst="roundRect">
            <a:avLst>
              <a:gd fmla="val 33333" name="adj"/>
            </a:avLst>
          </a:prstGeom>
          <a:solidFill>
            <a:srgbClr val="E4004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9" name="Google Shape;23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05412" y="3835717"/>
            <a:ext cx="228594" cy="17716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8"/>
          <p:cNvSpPr txBox="1"/>
          <p:nvPr/>
        </p:nvSpPr>
        <p:spPr>
          <a:xfrm>
            <a:off x="6962600" y="3714750"/>
            <a:ext cx="1628734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32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Evaluation Suite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6391115" y="4267199"/>
            <a:ext cx="2200219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7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10-question benchmark with keyword matching &amp; hallucination detection</a:t>
            </a:r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8981850" y="3495675"/>
            <a:ext cx="2600259" cy="2190749"/>
          </a:xfrm>
          <a:prstGeom prst="roundRect">
            <a:avLst>
              <a:gd fmla="val 10434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9181870" y="3695699"/>
            <a:ext cx="457188" cy="457200"/>
          </a:xfrm>
          <a:prstGeom prst="roundRect">
            <a:avLst>
              <a:gd fmla="val 33333" name="adj"/>
            </a:avLst>
          </a:prstGeom>
          <a:solidFill>
            <a:srgbClr val="E40046">
              <a:alpha val="2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4" name="Google Shape;244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96167" y="3827145"/>
            <a:ext cx="228594" cy="194309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8"/>
          <p:cNvSpPr txBox="1"/>
          <p:nvPr/>
        </p:nvSpPr>
        <p:spPr>
          <a:xfrm>
            <a:off x="9753356" y="3819524"/>
            <a:ext cx="1543011" cy="219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32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Multi-turn Chat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9181870" y="4267199"/>
            <a:ext cx="2200219" cy="495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67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Conversation history maintained for context across interactions</a:t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609584" y="5915025"/>
            <a:ext cx="10972525" cy="609600"/>
          </a:xfrm>
          <a:prstGeom prst="roundRect">
            <a:avLst>
              <a:gd fmla="val 37500" name="adj"/>
            </a:avLst>
          </a:prstGeom>
          <a:solidFill>
            <a:srgbClr val="E40046">
              <a:alpha val="7843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 rot="-5400000">
            <a:off x="370824" y="6153785"/>
            <a:ext cx="609600" cy="13208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4004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9" name="Google Shape;249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2476" y="6116955"/>
            <a:ext cx="228594" cy="205739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8"/>
          <p:cNvSpPr txBox="1"/>
          <p:nvPr/>
        </p:nvSpPr>
        <p:spPr>
          <a:xfrm>
            <a:off x="1295367" y="6105525"/>
            <a:ext cx="602917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End-to-end RAG solution with comprehensive evaluation and real-time parameter tuning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A1A1A"/>
            </a:gs>
            <a:gs pos="100000">
              <a:srgbClr val="2D1F1F"/>
            </a:gs>
          </a:gsLst>
          <a:lin ang="8100000" scaled="0"/>
        </a:gra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"/>
          <p:cNvSpPr txBox="1"/>
          <p:nvPr/>
        </p:nvSpPr>
        <p:spPr>
          <a:xfrm>
            <a:off x="609584" y="114300"/>
            <a:ext cx="3848003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Setup &amp; Installation</a:t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609584" y="1114425"/>
            <a:ext cx="5371965" cy="1409699"/>
          </a:xfrm>
          <a:prstGeom prst="roundRect">
            <a:avLst>
              <a:gd fmla="val 16216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847703" y="1314450"/>
            <a:ext cx="533386" cy="533399"/>
          </a:xfrm>
          <a:prstGeom prst="roundRect">
            <a:avLst>
              <a:gd fmla="val 28571" name="adj"/>
            </a:avLst>
          </a:prstGeom>
          <a:solidFill>
            <a:srgbClr val="E4004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1028674" y="1409699"/>
            <a:ext cx="17144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4" u="none" cap="none" strike="noStrike">
                <a:solidFill>
                  <a:srgbClr val="E4004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1533486" y="1314450"/>
            <a:ext cx="420994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Clone Repository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1533486" y="1657350"/>
            <a:ext cx="4209944" cy="4381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08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git clone https://github.com/KaustubhNair-bot/AI_Tr_BOT.git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1533486" y="2133599"/>
            <a:ext cx="4209944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cd AI_training_BOT/RAG_real_life_use_case_kaustubh</a:t>
            </a: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6210144" y="1114425"/>
            <a:ext cx="5371965" cy="1409699"/>
          </a:xfrm>
          <a:prstGeom prst="roundRect">
            <a:avLst>
              <a:gd fmla="val 16216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6448263" y="1314450"/>
            <a:ext cx="533386" cy="533399"/>
          </a:xfrm>
          <a:prstGeom prst="roundRect">
            <a:avLst>
              <a:gd fmla="val 28571" name="adj"/>
            </a:avLst>
          </a:prstGeom>
          <a:solidFill>
            <a:srgbClr val="E4004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 txBox="1"/>
          <p:nvPr/>
        </p:nvSpPr>
        <p:spPr>
          <a:xfrm>
            <a:off x="6629234" y="1409699"/>
            <a:ext cx="17144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4" u="none" cap="none" strike="noStrike">
                <a:solidFill>
                  <a:srgbClr val="E4004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7134046" y="1314450"/>
            <a:ext cx="420994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Virtual Environment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7134046" y="1657350"/>
            <a:ext cx="4209944" cy="219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08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python3 -m venv venv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7134046" y="1914525"/>
            <a:ext cx="4209944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source venv/bin/activate</a:t>
            </a: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609584" y="2743200"/>
            <a:ext cx="5371965" cy="1190625"/>
          </a:xfrm>
          <a:prstGeom prst="roundRect">
            <a:avLst>
              <a:gd fmla="val 19200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847703" y="2952750"/>
            <a:ext cx="533386" cy="533399"/>
          </a:xfrm>
          <a:prstGeom prst="roundRect">
            <a:avLst>
              <a:gd fmla="val 28571" name="adj"/>
            </a:avLst>
          </a:prstGeom>
          <a:solidFill>
            <a:srgbClr val="E4004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 txBox="1"/>
          <p:nvPr/>
        </p:nvSpPr>
        <p:spPr>
          <a:xfrm>
            <a:off x="1028674" y="3047999"/>
            <a:ext cx="17144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4" u="none" cap="none" strike="noStrike">
                <a:solidFill>
                  <a:srgbClr val="E4004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3</a:t>
            </a:r>
            <a:endParaRPr/>
          </a:p>
        </p:txBody>
      </p:sp>
      <p:sp>
        <p:nvSpPr>
          <p:cNvPr id="271" name="Google Shape;271;p19"/>
          <p:cNvSpPr txBox="1"/>
          <p:nvPr/>
        </p:nvSpPr>
        <p:spPr>
          <a:xfrm>
            <a:off x="1533486" y="2952750"/>
            <a:ext cx="420994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Install Dependencies</a:t>
            </a:r>
            <a:endParaRPr/>
          </a:p>
        </p:txBody>
      </p:sp>
      <p:sp>
        <p:nvSpPr>
          <p:cNvPr id="272" name="Google Shape;272;p19"/>
          <p:cNvSpPr txBox="1"/>
          <p:nvPr/>
        </p:nvSpPr>
        <p:spPr>
          <a:xfrm>
            <a:off x="1533486" y="3295650"/>
            <a:ext cx="4209944" cy="219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08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pip install -r requirements.txt</a:t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6210144" y="2743200"/>
            <a:ext cx="5371965" cy="1190625"/>
          </a:xfrm>
          <a:prstGeom prst="roundRect">
            <a:avLst>
              <a:gd fmla="val 19200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6448263" y="2952750"/>
            <a:ext cx="533386" cy="533399"/>
          </a:xfrm>
          <a:prstGeom prst="roundRect">
            <a:avLst>
              <a:gd fmla="val 28571" name="adj"/>
            </a:avLst>
          </a:prstGeom>
          <a:solidFill>
            <a:srgbClr val="E4004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6629234" y="3047999"/>
            <a:ext cx="17144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4" u="none" cap="none" strike="noStrike">
                <a:solidFill>
                  <a:srgbClr val="E4004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7134046" y="2952750"/>
            <a:ext cx="420994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Set Up API Key</a:t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7134046" y="3295650"/>
            <a:ext cx="4209944" cy="219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08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cp .env.example .env</a:t>
            </a:r>
            <a:endParaRPr/>
          </a:p>
        </p:txBody>
      </p:sp>
      <p:sp>
        <p:nvSpPr>
          <p:cNvPr id="278" name="Google Shape;278;p19"/>
          <p:cNvSpPr txBox="1"/>
          <p:nvPr/>
        </p:nvSpPr>
        <p:spPr>
          <a:xfrm>
            <a:off x="7134046" y="3543300"/>
            <a:ext cx="4209944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Add your Groq API key in .env file</a:t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609584" y="4457700"/>
            <a:ext cx="5371965" cy="971550"/>
          </a:xfrm>
          <a:prstGeom prst="roundRect">
            <a:avLst>
              <a:gd fmla="val 23529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847703" y="4657725"/>
            <a:ext cx="533386" cy="533399"/>
          </a:xfrm>
          <a:prstGeom prst="roundRect">
            <a:avLst>
              <a:gd fmla="val 28571" name="adj"/>
            </a:avLst>
          </a:prstGeom>
          <a:solidFill>
            <a:srgbClr val="E4004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1028674" y="4752974"/>
            <a:ext cx="17144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4" u="none" cap="none" strike="noStrike">
                <a:solidFill>
                  <a:srgbClr val="E4004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5</a:t>
            </a:r>
            <a:endParaRPr/>
          </a:p>
        </p:txBody>
      </p:sp>
      <p:sp>
        <p:nvSpPr>
          <p:cNvPr id="282" name="Google Shape;282;p19"/>
          <p:cNvSpPr txBox="1"/>
          <p:nvPr/>
        </p:nvSpPr>
        <p:spPr>
          <a:xfrm>
            <a:off x="1533486" y="4657725"/>
            <a:ext cx="420994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Run the App</a:t>
            </a:r>
            <a:endParaRPr/>
          </a:p>
        </p:txBody>
      </p:sp>
      <p:sp>
        <p:nvSpPr>
          <p:cNvPr id="283" name="Google Shape;283;p19"/>
          <p:cNvSpPr txBox="1"/>
          <p:nvPr/>
        </p:nvSpPr>
        <p:spPr>
          <a:xfrm>
            <a:off x="1533486" y="5000625"/>
            <a:ext cx="4209944" cy="219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708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streamlit run streamlit_app.py</a:t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6210144" y="4457700"/>
            <a:ext cx="5371965" cy="971550"/>
          </a:xfrm>
          <a:prstGeom prst="roundRect">
            <a:avLst>
              <a:gd fmla="val 23529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6448263" y="4657725"/>
            <a:ext cx="533386" cy="533399"/>
          </a:xfrm>
          <a:prstGeom prst="roundRect">
            <a:avLst>
              <a:gd fmla="val 28571" name="adj"/>
            </a:avLst>
          </a:prstGeom>
          <a:solidFill>
            <a:srgbClr val="E40046">
              <a:alpha val="25098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6629234" y="4752974"/>
            <a:ext cx="17144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4" u="none" cap="none" strike="noStrike">
                <a:solidFill>
                  <a:srgbClr val="E4004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6</a:t>
            </a:r>
            <a:endParaRPr/>
          </a:p>
        </p:txBody>
      </p:sp>
      <p:sp>
        <p:nvSpPr>
          <p:cNvPr id="287" name="Google Shape;287;p19"/>
          <p:cNvSpPr txBox="1"/>
          <p:nvPr/>
        </p:nvSpPr>
        <p:spPr>
          <a:xfrm>
            <a:off x="7134046" y="4657725"/>
            <a:ext cx="420994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Login</a:t>
            </a:r>
            <a:endParaRPr/>
          </a:p>
        </p:txBody>
      </p:sp>
      <p:sp>
        <p:nvSpPr>
          <p:cNvPr id="288" name="Google Shape;288;p19"/>
          <p:cNvSpPr/>
          <p:nvPr/>
        </p:nvSpPr>
        <p:spPr>
          <a:xfrm>
            <a:off x="7134046" y="5000625"/>
            <a:ext cx="1114397" cy="228600"/>
          </a:xfrm>
          <a:prstGeom prst="roundRect">
            <a:avLst>
              <a:gd fmla="val 33333" name="adj"/>
            </a:avLst>
          </a:prstGeom>
          <a:solidFill>
            <a:srgbClr val="E40046">
              <a:alpha val="10196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 txBox="1"/>
          <p:nvPr/>
        </p:nvSpPr>
        <p:spPr>
          <a:xfrm>
            <a:off x="7134046" y="5000625"/>
            <a:ext cx="111439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45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7" u="none" cap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admin/admin123</a:t>
            </a:r>
            <a:endParaRPr/>
          </a:p>
        </p:txBody>
      </p:sp>
      <p:sp>
        <p:nvSpPr>
          <p:cNvPr id="290" name="Google Shape;290;p19"/>
          <p:cNvSpPr/>
          <p:nvPr/>
        </p:nvSpPr>
        <p:spPr>
          <a:xfrm>
            <a:off x="8324641" y="5000625"/>
            <a:ext cx="1114397" cy="228600"/>
          </a:xfrm>
          <a:prstGeom prst="roundRect">
            <a:avLst>
              <a:gd fmla="val 33333" name="adj"/>
            </a:avLst>
          </a:prstGeom>
          <a:solidFill>
            <a:srgbClr val="E40046">
              <a:alpha val="10196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 txBox="1"/>
          <p:nvPr/>
        </p:nvSpPr>
        <p:spPr>
          <a:xfrm>
            <a:off x="8324641" y="5000625"/>
            <a:ext cx="111439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45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7" u="none" cap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agent/agent123</a:t>
            </a:r>
            <a:endParaRPr/>
          </a:p>
        </p:txBody>
      </p:sp>
      <p:sp>
        <p:nvSpPr>
          <p:cNvPr id="292" name="Google Shape;292;p19"/>
          <p:cNvSpPr/>
          <p:nvPr/>
        </p:nvSpPr>
        <p:spPr>
          <a:xfrm>
            <a:off x="9515237" y="5000625"/>
            <a:ext cx="971525" cy="228600"/>
          </a:xfrm>
          <a:prstGeom prst="roundRect">
            <a:avLst>
              <a:gd fmla="val 33333" name="adj"/>
            </a:avLst>
          </a:prstGeom>
          <a:solidFill>
            <a:srgbClr val="E40046">
              <a:alpha val="10196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 txBox="1"/>
          <p:nvPr/>
        </p:nvSpPr>
        <p:spPr>
          <a:xfrm>
            <a:off x="9515237" y="5000625"/>
            <a:ext cx="9715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45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7" u="none" cap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demo/demo123</a:t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609584" y="5943600"/>
            <a:ext cx="10972525" cy="609600"/>
          </a:xfrm>
          <a:prstGeom prst="roundRect">
            <a:avLst>
              <a:gd fmla="val 37500" name="adj"/>
            </a:avLst>
          </a:prstGeom>
          <a:solidFill>
            <a:srgbClr val="E40046">
              <a:alpha val="7843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 rot="-5400000">
            <a:off x="370824" y="6182360"/>
            <a:ext cx="609600" cy="13208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4004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6" name="Google Shape;2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476" y="6151245"/>
            <a:ext cx="228594" cy="19430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9"/>
          <p:cNvSpPr txBox="1"/>
          <p:nvPr/>
        </p:nvSpPr>
        <p:spPr>
          <a:xfrm>
            <a:off x="1295367" y="6134100"/>
            <a:ext cx="40575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Get your Groq API key at: </a:t>
            </a:r>
            <a:r>
              <a:rPr b="0" i="0" lang="en-US" sz="837" u="none" cap="none" strike="noStrike">
                <a:solidFill>
                  <a:srgbClr val="D1D5D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https://console.groq.com/keys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A1A1A"/>
            </a:gs>
            <a:gs pos="100000">
              <a:srgbClr val="2D1F1F"/>
            </a:gs>
          </a:gsLst>
          <a:lin ang="8100000" scaled="0"/>
        </a:gra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"/>
          <p:cNvSpPr txBox="1"/>
          <p:nvPr/>
        </p:nvSpPr>
        <p:spPr>
          <a:xfrm>
            <a:off x="609584" y="114300"/>
            <a:ext cx="5124321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Evaluation &amp; Performance</a:t>
            </a:r>
            <a:endParaRPr/>
          </a:p>
        </p:txBody>
      </p:sp>
      <p:sp>
        <p:nvSpPr>
          <p:cNvPr id="303" name="Google Shape;303;p20"/>
          <p:cNvSpPr/>
          <p:nvPr/>
        </p:nvSpPr>
        <p:spPr>
          <a:xfrm>
            <a:off x="609584" y="1076325"/>
            <a:ext cx="3762280" cy="2571750"/>
          </a:xfrm>
          <a:prstGeom prst="roundRect">
            <a:avLst>
              <a:gd fmla="val 8888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4" name="Google Shape;3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04" y="1295960"/>
            <a:ext cx="190495" cy="151279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0"/>
          <p:cNvSpPr txBox="1"/>
          <p:nvPr/>
        </p:nvSpPr>
        <p:spPr>
          <a:xfrm>
            <a:off x="1076298" y="1238249"/>
            <a:ext cx="2162120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Evaluation Categories</a:t>
            </a:r>
            <a:endParaRPr/>
          </a:p>
        </p:txBody>
      </p:sp>
      <p:pic>
        <p:nvPicPr>
          <p:cNvPr descr="image.png" id="306" name="Google Shape;30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04" y="1676400"/>
            <a:ext cx="15239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0"/>
          <p:cNvSpPr txBox="1"/>
          <p:nvPr/>
        </p:nvSpPr>
        <p:spPr>
          <a:xfrm>
            <a:off x="1038199" y="1638299"/>
            <a:ext cx="809604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Prepaid Plans</a:t>
            </a:r>
            <a:endParaRPr/>
          </a:p>
        </p:txBody>
      </p:sp>
      <p:pic>
        <p:nvPicPr>
          <p:cNvPr descr="image.png" id="308" name="Google Shape;3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4061" y="1676400"/>
            <a:ext cx="15239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0"/>
          <p:cNvSpPr txBox="1"/>
          <p:nvPr/>
        </p:nvSpPr>
        <p:spPr>
          <a:xfrm>
            <a:off x="2752656" y="1638299"/>
            <a:ext cx="876278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Postpaid Plans</a:t>
            </a:r>
            <a:endParaRPr/>
          </a:p>
        </p:txBody>
      </p:sp>
      <p:pic>
        <p:nvPicPr>
          <p:cNvPr descr="image.png" id="310" name="Google Shape;3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04" y="1981199"/>
            <a:ext cx="15239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0"/>
          <p:cNvSpPr txBox="1"/>
          <p:nvPr/>
        </p:nvSpPr>
        <p:spPr>
          <a:xfrm>
            <a:off x="1038199" y="1943100"/>
            <a:ext cx="819129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Porting / MNP</a:t>
            </a:r>
            <a:endParaRPr/>
          </a:p>
        </p:txBody>
      </p:sp>
      <p:pic>
        <p:nvPicPr>
          <p:cNvPr descr="image.png" id="312" name="Google Shape;3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4061" y="1981199"/>
            <a:ext cx="15239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0"/>
          <p:cNvSpPr txBox="1"/>
          <p:nvPr/>
        </p:nvSpPr>
        <p:spPr>
          <a:xfrm>
            <a:off x="2752656" y="1943100"/>
            <a:ext cx="781030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Intl. Roaming</a:t>
            </a:r>
            <a:endParaRPr/>
          </a:p>
        </p:txBody>
      </p:sp>
      <p:pic>
        <p:nvPicPr>
          <p:cNvPr descr="image.png" id="314" name="Google Shape;3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04" y="2286000"/>
            <a:ext cx="15239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0"/>
          <p:cNvSpPr txBox="1"/>
          <p:nvPr/>
        </p:nvSpPr>
        <p:spPr>
          <a:xfrm>
            <a:off x="1038199" y="2247899"/>
            <a:ext cx="800079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Refund Policy</a:t>
            </a:r>
            <a:endParaRPr/>
          </a:p>
        </p:txBody>
      </p:sp>
      <p:pic>
        <p:nvPicPr>
          <p:cNvPr descr="image.png" id="316" name="Google Shape;3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4061" y="2286000"/>
            <a:ext cx="15239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0"/>
          <p:cNvSpPr txBox="1"/>
          <p:nvPr/>
        </p:nvSpPr>
        <p:spPr>
          <a:xfrm>
            <a:off x="2752656" y="2247899"/>
            <a:ext cx="647683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Broadband</a:t>
            </a:r>
            <a:endParaRPr/>
          </a:p>
        </p:txBody>
      </p:sp>
      <p:pic>
        <p:nvPicPr>
          <p:cNvPr descr="image.png" id="318" name="Google Shape;31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04" y="2590799"/>
            <a:ext cx="15239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0"/>
          <p:cNvSpPr txBox="1"/>
          <p:nvPr/>
        </p:nvSpPr>
        <p:spPr>
          <a:xfrm>
            <a:off x="1038199" y="2552700"/>
            <a:ext cx="1085822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Customer Support</a:t>
            </a:r>
            <a:endParaRPr/>
          </a:p>
        </p:txBody>
      </p:sp>
      <p:pic>
        <p:nvPicPr>
          <p:cNvPr descr="image.png" id="320" name="Google Shape;3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4061" y="2590799"/>
            <a:ext cx="15239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0"/>
          <p:cNvSpPr txBox="1"/>
          <p:nvPr/>
        </p:nvSpPr>
        <p:spPr>
          <a:xfrm>
            <a:off x="2752656" y="2552700"/>
            <a:ext cx="1047723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Rewards Program</a:t>
            </a:r>
            <a:endParaRPr/>
          </a:p>
        </p:txBody>
      </p:sp>
      <p:pic>
        <p:nvPicPr>
          <p:cNvPr descr="image.png" id="322" name="Google Shape;32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04" y="2895600"/>
            <a:ext cx="15239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 txBox="1"/>
          <p:nvPr/>
        </p:nvSpPr>
        <p:spPr>
          <a:xfrm>
            <a:off x="1038199" y="2857500"/>
            <a:ext cx="1009624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Fair Usage Policy</a:t>
            </a:r>
            <a:endParaRPr/>
          </a:p>
        </p:txBody>
      </p:sp>
      <p:pic>
        <p:nvPicPr>
          <p:cNvPr descr="image.png" id="324" name="Google Shape;32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4061" y="2895600"/>
            <a:ext cx="15239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0"/>
          <p:cNvSpPr txBox="1"/>
          <p:nvPr/>
        </p:nvSpPr>
        <p:spPr>
          <a:xfrm>
            <a:off x="2752656" y="2857500"/>
            <a:ext cx="733406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Cancellation</a:t>
            </a:r>
            <a:endParaRPr/>
          </a:p>
        </p:txBody>
      </p:sp>
      <p:sp>
        <p:nvSpPr>
          <p:cNvPr id="326" name="Google Shape;326;p20"/>
          <p:cNvSpPr/>
          <p:nvPr/>
        </p:nvSpPr>
        <p:spPr>
          <a:xfrm>
            <a:off x="4600459" y="1076325"/>
            <a:ext cx="6981650" cy="1390650"/>
          </a:xfrm>
          <a:prstGeom prst="roundRect">
            <a:avLst>
              <a:gd fmla="val 16438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7" name="Google Shape;32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8579" y="1298761"/>
            <a:ext cx="190495" cy="14567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0"/>
          <p:cNvSpPr txBox="1"/>
          <p:nvPr/>
        </p:nvSpPr>
        <p:spPr>
          <a:xfrm>
            <a:off x="5105272" y="1238249"/>
            <a:ext cx="1952576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Performance Metrics</a:t>
            </a:r>
            <a:endParaRPr/>
          </a:p>
        </p:txBody>
      </p:sp>
      <p:pic>
        <p:nvPicPr>
          <p:cNvPr descr="image.png" id="329" name="Google Shape;32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8579" y="1712595"/>
            <a:ext cx="228594" cy="194309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0"/>
          <p:cNvSpPr txBox="1"/>
          <p:nvPr/>
        </p:nvSpPr>
        <p:spPr>
          <a:xfrm>
            <a:off x="5181470" y="1619250"/>
            <a:ext cx="2838379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Keyword Match Score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5181470" y="1847849"/>
            <a:ext cx="28383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Percentage of expected keywords found in response</a:t>
            </a:r>
            <a:endParaRPr/>
          </a:p>
        </p:txBody>
      </p:sp>
      <p:pic>
        <p:nvPicPr>
          <p:cNvPr descr="image.png" id="332" name="Google Shape;33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62720" y="1716881"/>
            <a:ext cx="228594" cy="18573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0"/>
          <p:cNvSpPr txBox="1"/>
          <p:nvPr/>
        </p:nvSpPr>
        <p:spPr>
          <a:xfrm>
            <a:off x="8505612" y="1619250"/>
            <a:ext cx="2838379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Hallucination Rate</a:t>
            </a: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8505612" y="1847849"/>
            <a:ext cx="28383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Percentage of unsupported numeric claims</a:t>
            </a:r>
            <a:endParaRPr/>
          </a:p>
        </p:txBody>
      </p:sp>
      <p:sp>
        <p:nvSpPr>
          <p:cNvPr id="335" name="Google Shape;335;p20"/>
          <p:cNvSpPr/>
          <p:nvPr/>
        </p:nvSpPr>
        <p:spPr>
          <a:xfrm>
            <a:off x="4600459" y="2619374"/>
            <a:ext cx="6981650" cy="2000250"/>
          </a:xfrm>
          <a:prstGeom prst="roundRect">
            <a:avLst>
              <a:gd fmla="val 11428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6" name="Google Shape;33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38579" y="2839010"/>
            <a:ext cx="190495" cy="151279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0"/>
          <p:cNvSpPr txBox="1"/>
          <p:nvPr/>
        </p:nvSpPr>
        <p:spPr>
          <a:xfrm>
            <a:off x="5105272" y="2781300"/>
            <a:ext cx="3295567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Generation Parameters Comparison</a:t>
            </a:r>
            <a:endParaRPr/>
          </a:p>
        </p:txBody>
      </p:sp>
      <p:sp>
        <p:nvSpPr>
          <p:cNvPr id="338" name="Google Shape;338;p20"/>
          <p:cNvSpPr/>
          <p:nvPr/>
        </p:nvSpPr>
        <p:spPr>
          <a:xfrm>
            <a:off x="4838579" y="3200400"/>
            <a:ext cx="2066873" cy="1257300"/>
          </a:xfrm>
          <a:prstGeom prst="roundRect">
            <a:avLst>
              <a:gd fmla="val 12121" name="adj"/>
            </a:avLst>
          </a:prstGeom>
          <a:solidFill>
            <a:srgbClr val="E40046">
              <a:alpha val="7843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9" name="Google Shape;33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90975" y="3370620"/>
            <a:ext cx="171445" cy="15485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0"/>
          <p:cNvSpPr txBox="1"/>
          <p:nvPr/>
        </p:nvSpPr>
        <p:spPr>
          <a:xfrm>
            <a:off x="5238619" y="3333749"/>
            <a:ext cx="63815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Factual</a:t>
            </a:r>
            <a:endParaRPr/>
          </a:p>
        </p:txBody>
      </p:sp>
      <p:sp>
        <p:nvSpPr>
          <p:cNvPr id="341" name="Google Shape;341;p20"/>
          <p:cNvSpPr txBox="1"/>
          <p:nvPr/>
        </p:nvSpPr>
        <p:spPr>
          <a:xfrm>
            <a:off x="4990975" y="3657600"/>
            <a:ext cx="1762080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Temp:</a:t>
            </a:r>
            <a:r>
              <a:rPr b="0" i="0" lang="en-US" sz="83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83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0.0</a:t>
            </a:r>
            <a:endParaRPr/>
          </a:p>
        </p:txBody>
      </p:sp>
      <p:sp>
        <p:nvSpPr>
          <p:cNvPr id="342" name="Google Shape;342;p20"/>
          <p:cNvSpPr txBox="1"/>
          <p:nvPr/>
        </p:nvSpPr>
        <p:spPr>
          <a:xfrm>
            <a:off x="4990975" y="3886200"/>
            <a:ext cx="1762080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Top-P:</a:t>
            </a:r>
            <a:r>
              <a:rPr b="0" i="0" lang="en-US" sz="83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83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0.5</a:t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4990975" y="4114800"/>
            <a:ext cx="1209644" cy="228600"/>
          </a:xfrm>
          <a:prstGeom prst="roundRect">
            <a:avLst>
              <a:gd fmla="val 33333" name="adj"/>
            </a:avLst>
          </a:prstGeom>
          <a:solidFill>
            <a:srgbClr val="E40046">
              <a:alpha val="14901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 txBox="1"/>
          <p:nvPr/>
        </p:nvSpPr>
        <p:spPr>
          <a:xfrm>
            <a:off x="4990975" y="4114800"/>
            <a:ext cx="12096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45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7" u="none" cap="none" strike="noStrike">
                <a:solidFill>
                  <a:srgbClr val="E40046"/>
                </a:solidFill>
                <a:latin typeface="Roboto"/>
                <a:ea typeface="Roboto"/>
                <a:cs typeface="Roboto"/>
                <a:sym typeface="Roboto"/>
              </a:rPr>
              <a:t>Lowest Hallucination</a:t>
            </a:r>
            <a:endParaRPr/>
          </a:p>
        </p:txBody>
      </p:sp>
      <p:sp>
        <p:nvSpPr>
          <p:cNvPr id="345" name="Google Shape;345;p20"/>
          <p:cNvSpPr/>
          <p:nvPr/>
        </p:nvSpPr>
        <p:spPr>
          <a:xfrm>
            <a:off x="7057848" y="3200400"/>
            <a:ext cx="2066873" cy="1257300"/>
          </a:xfrm>
          <a:prstGeom prst="roundRect">
            <a:avLst>
              <a:gd fmla="val 12121" name="adj"/>
            </a:avLst>
          </a:prstGeom>
          <a:solidFill>
            <a:srgbClr val="E40046">
              <a:alpha val="7843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6" name="Google Shape;346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10244" y="3376151"/>
            <a:ext cx="171445" cy="143796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0"/>
          <p:cNvSpPr txBox="1"/>
          <p:nvPr/>
        </p:nvSpPr>
        <p:spPr>
          <a:xfrm>
            <a:off x="7457888" y="3333749"/>
            <a:ext cx="7334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Balanced</a:t>
            </a:r>
            <a:endParaRPr/>
          </a:p>
        </p:txBody>
      </p:sp>
      <p:sp>
        <p:nvSpPr>
          <p:cNvPr id="348" name="Google Shape;348;p20"/>
          <p:cNvSpPr txBox="1"/>
          <p:nvPr/>
        </p:nvSpPr>
        <p:spPr>
          <a:xfrm>
            <a:off x="7210244" y="3657600"/>
            <a:ext cx="1762080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Temp:</a:t>
            </a:r>
            <a:r>
              <a:rPr b="0" i="0" lang="en-US" sz="83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83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0.3</a:t>
            </a:r>
            <a:endParaRPr/>
          </a:p>
        </p:txBody>
      </p:sp>
      <p:sp>
        <p:nvSpPr>
          <p:cNvPr id="349" name="Google Shape;349;p20"/>
          <p:cNvSpPr txBox="1"/>
          <p:nvPr/>
        </p:nvSpPr>
        <p:spPr>
          <a:xfrm>
            <a:off x="7210244" y="3886200"/>
            <a:ext cx="1762080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Top-P:</a:t>
            </a:r>
            <a:r>
              <a:rPr b="0" i="0" lang="en-US" sz="83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83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0.85</a:t>
            </a:r>
            <a:endParaRPr/>
          </a:p>
        </p:txBody>
      </p:sp>
      <p:sp>
        <p:nvSpPr>
          <p:cNvPr id="350" name="Google Shape;350;p20"/>
          <p:cNvSpPr/>
          <p:nvPr/>
        </p:nvSpPr>
        <p:spPr>
          <a:xfrm>
            <a:off x="7210244" y="4114800"/>
            <a:ext cx="600059" cy="228600"/>
          </a:xfrm>
          <a:prstGeom prst="roundRect">
            <a:avLst>
              <a:gd fmla="val 33333" name="adj"/>
            </a:avLst>
          </a:prstGeom>
          <a:solidFill>
            <a:srgbClr val="E40046">
              <a:alpha val="14901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 txBox="1"/>
          <p:nvPr/>
        </p:nvSpPr>
        <p:spPr>
          <a:xfrm>
            <a:off x="7210244" y="4114800"/>
            <a:ext cx="60005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45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7" u="none" cap="none" strike="noStrike">
                <a:solidFill>
                  <a:srgbClr val="E40046"/>
                </a:solidFill>
                <a:latin typeface="Roboto"/>
                <a:ea typeface="Roboto"/>
                <a:cs typeface="Roboto"/>
                <a:sym typeface="Roboto"/>
              </a:rPr>
              <a:t>Low Risk</a:t>
            </a:r>
            <a:endParaRPr/>
          </a:p>
        </p:txBody>
      </p:sp>
      <p:sp>
        <p:nvSpPr>
          <p:cNvPr id="352" name="Google Shape;352;p20"/>
          <p:cNvSpPr/>
          <p:nvPr/>
        </p:nvSpPr>
        <p:spPr>
          <a:xfrm>
            <a:off x="9277118" y="3200400"/>
            <a:ext cx="2066873" cy="1257300"/>
          </a:xfrm>
          <a:prstGeom prst="roundRect">
            <a:avLst>
              <a:gd fmla="val 12121" name="adj"/>
            </a:avLst>
          </a:prstGeom>
          <a:solidFill>
            <a:srgbClr val="E40046">
              <a:alpha val="7843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3" name="Google Shape;353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29514" y="3367855"/>
            <a:ext cx="171445" cy="160388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0"/>
          <p:cNvSpPr txBox="1"/>
          <p:nvPr/>
        </p:nvSpPr>
        <p:spPr>
          <a:xfrm>
            <a:off x="9677158" y="3333749"/>
            <a:ext cx="7334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Creative</a:t>
            </a:r>
            <a:endParaRPr/>
          </a:p>
        </p:txBody>
      </p:sp>
      <p:sp>
        <p:nvSpPr>
          <p:cNvPr id="355" name="Google Shape;355;p20"/>
          <p:cNvSpPr txBox="1"/>
          <p:nvPr/>
        </p:nvSpPr>
        <p:spPr>
          <a:xfrm>
            <a:off x="9429514" y="3657600"/>
            <a:ext cx="1762080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Temp:</a:t>
            </a:r>
            <a:r>
              <a:rPr b="0" i="0" lang="en-US" sz="83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83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0.8</a:t>
            </a:r>
            <a:endParaRPr/>
          </a:p>
        </p:txBody>
      </p:sp>
      <p:sp>
        <p:nvSpPr>
          <p:cNvPr id="356" name="Google Shape;356;p20"/>
          <p:cNvSpPr txBox="1"/>
          <p:nvPr/>
        </p:nvSpPr>
        <p:spPr>
          <a:xfrm>
            <a:off x="9429514" y="3886200"/>
            <a:ext cx="1762080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Top-P:</a:t>
            </a:r>
            <a:r>
              <a:rPr b="0" i="0" lang="en-US" sz="837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83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0.95</a:t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9429514" y="4114800"/>
            <a:ext cx="733406" cy="228600"/>
          </a:xfrm>
          <a:prstGeom prst="roundRect">
            <a:avLst>
              <a:gd fmla="val 33333" name="adj"/>
            </a:avLst>
          </a:prstGeom>
          <a:solidFill>
            <a:srgbClr val="E40046">
              <a:alpha val="14901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 txBox="1"/>
          <p:nvPr/>
        </p:nvSpPr>
        <p:spPr>
          <a:xfrm>
            <a:off x="9429514" y="4114800"/>
            <a:ext cx="7334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45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7" u="none" cap="none" strike="noStrike">
                <a:solidFill>
                  <a:srgbClr val="E40046"/>
                </a:solidFill>
                <a:latin typeface="Roboto"/>
                <a:ea typeface="Roboto"/>
                <a:cs typeface="Roboto"/>
                <a:sym typeface="Roboto"/>
              </a:rPr>
              <a:t>Higher Risk</a:t>
            </a:r>
            <a:endParaRPr/>
          </a:p>
        </p:txBody>
      </p:sp>
      <p:sp>
        <p:nvSpPr>
          <p:cNvPr id="359" name="Google Shape;359;p20"/>
          <p:cNvSpPr/>
          <p:nvPr/>
        </p:nvSpPr>
        <p:spPr>
          <a:xfrm>
            <a:off x="4600459" y="4772025"/>
            <a:ext cx="6981650" cy="761999"/>
          </a:xfrm>
          <a:prstGeom prst="roundRect">
            <a:avLst>
              <a:gd fmla="val 30000" name="adj"/>
            </a:avLst>
          </a:prstGeom>
          <a:solidFill>
            <a:srgbClr val="E40046">
              <a:alpha val="10196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/>
          <p:nvPr/>
        </p:nvSpPr>
        <p:spPr>
          <a:xfrm rot="-5400000">
            <a:off x="4285500" y="5086984"/>
            <a:ext cx="761999" cy="13208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4004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1" name="Google Shape;361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43351" y="5060156"/>
            <a:ext cx="228594" cy="185737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0"/>
          <p:cNvSpPr txBox="1"/>
          <p:nvPr/>
        </p:nvSpPr>
        <p:spPr>
          <a:xfrm>
            <a:off x="5286242" y="4924424"/>
            <a:ext cx="59910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6" u="none" cap="none" strike="noStrike">
                <a:solidFill>
                  <a:srgbClr val="E40046"/>
                </a:solidFill>
                <a:latin typeface="Roboto"/>
                <a:ea typeface="Roboto"/>
                <a:cs typeface="Roboto"/>
                <a:sym typeface="Roboto"/>
              </a:rPr>
              <a:t>Optimal Settings:</a:t>
            </a:r>
            <a:r>
              <a:rPr b="0" i="0" lang="en-US" sz="956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Temperature 0.0–0.3 with Top-P 0.5–0.85 provides best balance of factual accuracy and brand-voice adherence</a:t>
            </a:r>
            <a:endParaRPr/>
          </a:p>
        </p:txBody>
      </p:sp>
      <p:pic>
        <p:nvPicPr>
          <p:cNvPr id="363" name="Google Shape;363;p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85775" y="3907950"/>
            <a:ext cx="3471959" cy="257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A1A1A"/>
            </a:gs>
            <a:gs pos="100000">
              <a:srgbClr val="2D1F1F"/>
            </a:gs>
          </a:gsLst>
          <a:lin ang="8100000" scaled="0"/>
        </a:gra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1"/>
          <p:cNvSpPr txBox="1"/>
          <p:nvPr/>
        </p:nvSpPr>
        <p:spPr>
          <a:xfrm>
            <a:off x="609584" y="0"/>
            <a:ext cx="5752956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Conclusion &amp; Key Takeaways</a:t>
            </a:r>
            <a:endParaRPr/>
          </a:p>
        </p:txBody>
      </p:sp>
      <p:sp>
        <p:nvSpPr>
          <p:cNvPr id="369" name="Google Shape;369;p21"/>
          <p:cNvSpPr/>
          <p:nvPr/>
        </p:nvSpPr>
        <p:spPr>
          <a:xfrm>
            <a:off x="609584" y="857250"/>
            <a:ext cx="5371965" cy="2190749"/>
          </a:xfrm>
          <a:prstGeom prst="roundRect">
            <a:avLst>
              <a:gd fmla="val 10434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0" name="Google Shape;3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03" y="1094597"/>
            <a:ext cx="285742" cy="26825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1"/>
          <p:cNvSpPr txBox="1"/>
          <p:nvPr/>
        </p:nvSpPr>
        <p:spPr>
          <a:xfrm>
            <a:off x="1247743" y="1095374"/>
            <a:ext cx="1943051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Security Features</a:t>
            </a:r>
            <a:endParaRPr/>
          </a:p>
        </p:txBody>
      </p:sp>
      <p:pic>
        <p:nvPicPr>
          <p:cNvPr descr="image.png" id="372" name="Google Shape;37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03" y="1639660"/>
            <a:ext cx="152396" cy="130628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1"/>
          <p:cNvSpPr txBox="1"/>
          <p:nvPr/>
        </p:nvSpPr>
        <p:spPr>
          <a:xfrm>
            <a:off x="1076298" y="1552574"/>
            <a:ext cx="191447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SHA-256 hashed passwords</a:t>
            </a:r>
            <a:endParaRPr/>
          </a:p>
        </p:txBody>
      </p:sp>
      <p:pic>
        <p:nvPicPr>
          <p:cNvPr descr="image.png" id="374" name="Google Shape;37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03" y="1982560"/>
            <a:ext cx="152396" cy="130628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1"/>
          <p:cNvSpPr txBox="1"/>
          <p:nvPr/>
        </p:nvSpPr>
        <p:spPr>
          <a:xfrm>
            <a:off x="1076298" y="1895474"/>
            <a:ext cx="20001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Session-based authentication</a:t>
            </a:r>
            <a:endParaRPr/>
          </a:p>
        </p:txBody>
      </p:sp>
      <p:pic>
        <p:nvPicPr>
          <p:cNvPr descr="image.png" id="376" name="Google Shape;37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03" y="2325460"/>
            <a:ext cx="152396" cy="130628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1"/>
          <p:cNvSpPr txBox="1"/>
          <p:nvPr/>
        </p:nvSpPr>
        <p:spPr>
          <a:xfrm>
            <a:off x="1076298" y="2238375"/>
            <a:ext cx="142871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API key stored in .env</a:t>
            </a:r>
            <a:endParaRPr/>
          </a:p>
        </p:txBody>
      </p:sp>
      <p:pic>
        <p:nvPicPr>
          <p:cNvPr descr="image.png" id="378" name="Google Shape;37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03" y="2668360"/>
            <a:ext cx="152396" cy="130628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1"/>
          <p:cNvSpPr txBox="1"/>
          <p:nvPr/>
        </p:nvSpPr>
        <p:spPr>
          <a:xfrm>
            <a:off x="1076298" y="2581275"/>
            <a:ext cx="13144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Context constraints</a:t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6210144" y="857250"/>
            <a:ext cx="5371965" cy="2190749"/>
          </a:xfrm>
          <a:prstGeom prst="roundRect">
            <a:avLst>
              <a:gd fmla="val 10434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1" name="Google Shape;38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8263" y="1117923"/>
            <a:ext cx="285742" cy="221602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1"/>
          <p:cNvSpPr txBox="1"/>
          <p:nvPr/>
        </p:nvSpPr>
        <p:spPr>
          <a:xfrm>
            <a:off x="6848303" y="1095374"/>
            <a:ext cx="2057348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Optimal Parameters</a:t>
            </a:r>
            <a:endParaRPr/>
          </a:p>
        </p:txBody>
      </p:sp>
      <p:sp>
        <p:nvSpPr>
          <p:cNvPr id="383" name="Google Shape;383;p21"/>
          <p:cNvSpPr txBox="1"/>
          <p:nvPr/>
        </p:nvSpPr>
        <p:spPr>
          <a:xfrm>
            <a:off x="6448263" y="1571625"/>
            <a:ext cx="8572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Temperature</a:t>
            </a:r>
            <a:endParaRPr/>
          </a:p>
        </p:txBody>
      </p:sp>
      <p:sp>
        <p:nvSpPr>
          <p:cNvPr id="384" name="Google Shape;384;p21"/>
          <p:cNvSpPr txBox="1"/>
          <p:nvPr/>
        </p:nvSpPr>
        <p:spPr>
          <a:xfrm>
            <a:off x="10420089" y="1552574"/>
            <a:ext cx="923901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E4004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0.0 - 0.3</a:t>
            </a:r>
            <a:endParaRPr/>
          </a:p>
        </p:txBody>
      </p:sp>
      <p:sp>
        <p:nvSpPr>
          <p:cNvPr id="385" name="Google Shape;385;p21"/>
          <p:cNvSpPr txBox="1"/>
          <p:nvPr/>
        </p:nvSpPr>
        <p:spPr>
          <a:xfrm>
            <a:off x="6448263" y="1952624"/>
            <a:ext cx="4000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Top-P</a:t>
            </a:r>
            <a:endParaRPr/>
          </a:p>
        </p:txBody>
      </p:sp>
      <p:sp>
        <p:nvSpPr>
          <p:cNvPr id="386" name="Google Shape;386;p21"/>
          <p:cNvSpPr txBox="1"/>
          <p:nvPr/>
        </p:nvSpPr>
        <p:spPr>
          <a:xfrm>
            <a:off x="10315317" y="1933574"/>
            <a:ext cx="102867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E4004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0.5 - 0.85</a:t>
            </a:r>
            <a:endParaRPr/>
          </a:p>
        </p:txBody>
      </p:sp>
      <p:sp>
        <p:nvSpPr>
          <p:cNvPr id="387" name="Google Shape;387;p21"/>
          <p:cNvSpPr/>
          <p:nvPr/>
        </p:nvSpPr>
        <p:spPr>
          <a:xfrm>
            <a:off x="6448263" y="2314575"/>
            <a:ext cx="4895727" cy="342900"/>
          </a:xfrm>
          <a:prstGeom prst="roundRect">
            <a:avLst>
              <a:gd fmla="val 44444" name="adj"/>
            </a:avLst>
          </a:prstGeom>
          <a:solidFill>
            <a:srgbClr val="E40046">
              <a:alpha val="10196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6600659" y="2390774"/>
            <a:ext cx="4590935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Best balance of </a:t>
            </a:r>
            <a:r>
              <a:rPr b="1" i="0" lang="en-US" sz="837" u="none" cap="none" strike="noStrike">
                <a:solidFill>
                  <a:srgbClr val="E40046"/>
                </a:solidFill>
                <a:latin typeface="Roboto"/>
                <a:ea typeface="Roboto"/>
                <a:cs typeface="Roboto"/>
                <a:sym typeface="Roboto"/>
              </a:rPr>
              <a:t>factual accuracy</a:t>
            </a:r>
            <a:r>
              <a:rPr b="0" i="0" lang="en-US" sz="837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i="0" lang="en-US" sz="837" u="none" cap="none" strike="noStrike">
                <a:solidFill>
                  <a:srgbClr val="E40046"/>
                </a:solidFill>
                <a:latin typeface="Roboto"/>
                <a:ea typeface="Roboto"/>
                <a:cs typeface="Roboto"/>
                <a:sym typeface="Roboto"/>
              </a:rPr>
              <a:t>brand-voice adherence</a:t>
            </a:r>
            <a:endParaRPr/>
          </a:p>
        </p:txBody>
      </p:sp>
      <p:sp>
        <p:nvSpPr>
          <p:cNvPr id="389" name="Google Shape;389;p21"/>
          <p:cNvSpPr/>
          <p:nvPr/>
        </p:nvSpPr>
        <p:spPr>
          <a:xfrm>
            <a:off x="609584" y="3238500"/>
            <a:ext cx="5371965" cy="2190749"/>
          </a:xfrm>
          <a:prstGeom prst="roundRect">
            <a:avLst>
              <a:gd fmla="val 10434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0" name="Google Shape;39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703" y="3481679"/>
            <a:ext cx="285742" cy="256591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1"/>
          <p:cNvSpPr txBox="1"/>
          <p:nvPr/>
        </p:nvSpPr>
        <p:spPr>
          <a:xfrm>
            <a:off x="1247743" y="3476624"/>
            <a:ext cx="262883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Project Success Factors</a:t>
            </a:r>
            <a:endParaRPr/>
          </a:p>
        </p:txBody>
      </p:sp>
      <p:pic>
        <p:nvPicPr>
          <p:cNvPr descr="image.png" id="392" name="Google Shape;39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03" y="4023632"/>
            <a:ext cx="152396" cy="12518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1"/>
          <p:cNvSpPr txBox="1"/>
          <p:nvPr/>
        </p:nvSpPr>
        <p:spPr>
          <a:xfrm>
            <a:off x="1076298" y="3933824"/>
            <a:ext cx="191447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Hybrid LLM + SLM approach</a:t>
            </a:r>
            <a:endParaRPr/>
          </a:p>
        </p:txBody>
      </p:sp>
      <p:pic>
        <p:nvPicPr>
          <p:cNvPr descr="image.png" id="394" name="Google Shape;39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03" y="4366532"/>
            <a:ext cx="152396" cy="12518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1"/>
          <p:cNvSpPr txBox="1"/>
          <p:nvPr/>
        </p:nvSpPr>
        <p:spPr>
          <a:xfrm>
            <a:off x="1076298" y="4276725"/>
            <a:ext cx="16573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End-to-end RAG pipeline</a:t>
            </a:r>
            <a:endParaRPr/>
          </a:p>
        </p:txBody>
      </p:sp>
      <p:pic>
        <p:nvPicPr>
          <p:cNvPr descr="image.png" id="396" name="Google Shape;39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03" y="4709432"/>
            <a:ext cx="152396" cy="12518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1"/>
          <p:cNvSpPr txBox="1"/>
          <p:nvPr/>
        </p:nvSpPr>
        <p:spPr>
          <a:xfrm>
            <a:off x="1076298" y="4619625"/>
            <a:ext cx="21430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Comprehensive evaluation suite</a:t>
            </a:r>
            <a:endParaRPr/>
          </a:p>
        </p:txBody>
      </p:sp>
      <p:pic>
        <p:nvPicPr>
          <p:cNvPr descr="image.png" id="398" name="Google Shape;39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03" y="5052332"/>
            <a:ext cx="152396" cy="12518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1"/>
          <p:cNvSpPr txBox="1"/>
          <p:nvPr/>
        </p:nvSpPr>
        <p:spPr>
          <a:xfrm>
            <a:off x="1076298" y="4962525"/>
            <a:ext cx="22668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Brand voice persona enforcement</a:t>
            </a:r>
            <a:endParaRPr/>
          </a:p>
        </p:txBody>
      </p:sp>
      <p:sp>
        <p:nvSpPr>
          <p:cNvPr id="400" name="Google Shape;400;p21"/>
          <p:cNvSpPr/>
          <p:nvPr/>
        </p:nvSpPr>
        <p:spPr>
          <a:xfrm>
            <a:off x="6210144" y="3238500"/>
            <a:ext cx="5371965" cy="2190749"/>
          </a:xfrm>
          <a:prstGeom prst="roundRect">
            <a:avLst>
              <a:gd fmla="val 10434" name="adj"/>
            </a:avLst>
          </a:prstGeom>
          <a:solidFill>
            <a:srgbClr val="E40046">
              <a:alpha val="5882"/>
            </a:srgbClr>
          </a:solidFill>
          <a:ln cap="flat" cmpd="sng" w="9525">
            <a:solidFill>
              <a:srgbClr val="E400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01" name="Google Shape;40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48263" y="3490426"/>
            <a:ext cx="285742" cy="239096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1"/>
          <p:cNvSpPr txBox="1"/>
          <p:nvPr/>
        </p:nvSpPr>
        <p:spPr>
          <a:xfrm>
            <a:off x="6848303" y="3476624"/>
            <a:ext cx="182875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2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Future Potential</a:t>
            </a:r>
            <a:endParaRPr/>
          </a:p>
        </p:txBody>
      </p:sp>
      <p:pic>
        <p:nvPicPr>
          <p:cNvPr descr="image.png" id="403" name="Google Shape;403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263" y="4029075"/>
            <a:ext cx="15239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1"/>
          <p:cNvSpPr txBox="1"/>
          <p:nvPr/>
        </p:nvSpPr>
        <p:spPr>
          <a:xfrm>
            <a:off x="6676858" y="3933824"/>
            <a:ext cx="25050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Scalable to other telecom companies</a:t>
            </a:r>
            <a:endParaRPr/>
          </a:p>
        </p:txBody>
      </p:sp>
      <p:pic>
        <p:nvPicPr>
          <p:cNvPr descr="image.png" id="405" name="Google Shape;40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263" y="4371975"/>
            <a:ext cx="15239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1"/>
          <p:cNvSpPr txBox="1"/>
          <p:nvPr/>
        </p:nvSpPr>
        <p:spPr>
          <a:xfrm>
            <a:off x="6676858" y="4276725"/>
            <a:ext cx="220021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Enhance with more data sources</a:t>
            </a:r>
            <a:endParaRPr/>
          </a:p>
        </p:txBody>
      </p:sp>
      <p:pic>
        <p:nvPicPr>
          <p:cNvPr descr="image.png" id="407" name="Google Shape;407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263" y="4714875"/>
            <a:ext cx="15239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1"/>
          <p:cNvSpPr txBox="1"/>
          <p:nvPr/>
        </p:nvSpPr>
        <p:spPr>
          <a:xfrm>
            <a:off x="6676858" y="4619625"/>
            <a:ext cx="221926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Potential for real-time integration</a:t>
            </a:r>
            <a:endParaRPr/>
          </a:p>
        </p:txBody>
      </p:sp>
      <p:sp>
        <p:nvSpPr>
          <p:cNvPr id="409" name="Google Shape;409;p21"/>
          <p:cNvSpPr/>
          <p:nvPr/>
        </p:nvSpPr>
        <p:spPr>
          <a:xfrm>
            <a:off x="609584" y="5619750"/>
            <a:ext cx="10972525" cy="1066799"/>
          </a:xfrm>
          <a:prstGeom prst="roundRect">
            <a:avLst>
              <a:gd fmla="val 21428" name="adj"/>
            </a:avLst>
          </a:prstGeom>
          <a:solidFill>
            <a:srgbClr val="E40046">
              <a:alpha val="10196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 rot="-5400000">
            <a:off x="142225" y="6087109"/>
            <a:ext cx="1066799" cy="13208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4004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11" name="Google Shape;411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2476" y="6042348"/>
            <a:ext cx="285742" cy="221602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1"/>
          <p:cNvSpPr txBox="1"/>
          <p:nvPr/>
        </p:nvSpPr>
        <p:spPr>
          <a:xfrm>
            <a:off x="1352516" y="5772150"/>
            <a:ext cx="8305592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Project Success</a:t>
            </a:r>
            <a:endParaRPr/>
          </a:p>
        </p:txBody>
      </p:sp>
      <p:sp>
        <p:nvSpPr>
          <p:cNvPr id="413" name="Google Shape;413;p21"/>
          <p:cNvSpPr txBox="1"/>
          <p:nvPr/>
        </p:nvSpPr>
        <p:spPr>
          <a:xfrm>
            <a:off x="1352516" y="6076950"/>
            <a:ext cx="8305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D1D5DB"/>
                </a:solidFill>
                <a:latin typeface="Roboto"/>
                <a:ea typeface="Roboto"/>
                <a:cs typeface="Roboto"/>
                <a:sym typeface="Roboto"/>
              </a:rPr>
              <a:t>The hybrid RAG approach delivers the perfect balance of efficiency, accuracy, and brand consistency for customer support applications</a:t>
            </a:r>
            <a:endParaRPr/>
          </a:p>
        </p:txBody>
      </p:sp>
      <p:sp>
        <p:nvSpPr>
          <p:cNvPr id="414" name="Google Shape;414;p21"/>
          <p:cNvSpPr txBox="1"/>
          <p:nvPr/>
        </p:nvSpPr>
        <p:spPr>
          <a:xfrm>
            <a:off x="9658108" y="5867399"/>
            <a:ext cx="1619209" cy="380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r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Built by Kaustubh Nair</a:t>
            </a:r>
            <a:endParaRPr/>
          </a:p>
        </p:txBody>
      </p:sp>
      <p:sp>
        <p:nvSpPr>
          <p:cNvPr id="415" name="Google Shape;415;p21"/>
          <p:cNvSpPr txBox="1"/>
          <p:nvPr/>
        </p:nvSpPr>
        <p:spPr>
          <a:xfrm>
            <a:off x="9658108" y="6248400"/>
            <a:ext cx="1619209" cy="19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r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AI Training Program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